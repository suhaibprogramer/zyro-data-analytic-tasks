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13</c:v>
                </c:pt>
                <c:pt idx="2">
                  <c:v>18</c:v>
                </c:pt>
                <c:pt idx="3">
                  <c:v>9</c:v>
                </c:pt>
                <c:pt idx="4">
                  <c:v>14</c:v>
                </c:pt>
                <c:pt idx="5">
                  <c:v>23</c:v>
                </c:pt>
                <c:pt idx="6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2A541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Card</c:v>
                </c:pt>
                <c:pt idx="1">
                  <c:v>Cash</c:v>
                </c:pt>
                <c:pt idx="2">
                  <c:v>Wallet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26425</c:v>
                </c:pt>
                <c:pt idx="1">
                  <c:v>21548</c:v>
                </c:pt>
                <c:pt idx="2">
                  <c:v>17454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%</c:v>
                </c:pt>
              </c:strCache>
            </c:strRef>
          </c:tx>
          <c:spPr>
            <a:solidFill>
              <a:srgbClr val="D64550"/>
            </a:solidFill>
            <a:ln w="381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6455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Thu</c:v>
                  </c:pt>
                  <c:pt idx="1">
                    <c:v>Wed</c:v>
                  </c:pt>
                  <c:pt idx="2">
                    <c:v>Tue</c:v>
                  </c:pt>
                  <c:pt idx="3">
                    <c:v>Mon</c:v>
                  </c:pt>
                  <c:pt idx="4">
                    <c:v>Fri</c:v>
                  </c:pt>
                  <c:pt idx="5">
                    <c:v>Sun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5.6</c:v>
                </c:pt>
                <c:pt idx="2">
                  <c:v>7.7</c:v>
                </c:pt>
                <c:pt idx="3">
                  <c:v>20</c:v>
                </c:pt>
                <c:pt idx="4">
                  <c:v>21.4</c:v>
                </c:pt>
                <c:pt idx="5">
                  <c:v>26.1</c:v>
                </c:pt>
                <c:pt idx="6">
                  <c:v>39.1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D6455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7"/>
                    </a:solidFill>
                    <a:latin typeface="Arial"/>
                  </a:rPr>
                  <a:t>Cancellation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ZYROO DATA ANALYTICS INTERNSHIP</a:t>
            </a:r>
            <a:endParaRPr lang="en-US" sz="1300" dirty="0"/>
          </a:p>
        </p:txBody>
      </p:sp>
      <p:sp>
        <p:nvSpPr>
          <p:cNvPr id="3" name="Text 1"/>
          <p:cNvSpPr txBox="1"/>
          <p:nvPr>
            <p:ph idx="101" type="title" hasCustomPrompt="1"/>
          </p:nvPr>
        </p:nvSpPr>
        <p:spPr>
          <a:xfrm>
            <a:off x="640080" y="1920240"/>
            <a:ext cx="9875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000" dirty="0"/>
          </a:p>
        </p:txBody>
      </p:sp>
      <p:sp>
        <p:nvSpPr>
          <p:cNvPr id="4" name="Text 1"/>
          <p:cNvSpPr txBox="1"/>
          <p:nvPr>
            <p:ph idx="102" type="body" hasCustomPrompt="1"/>
          </p:nvPr>
        </p:nvSpPr>
        <p:spPr>
          <a:xfrm>
            <a:off x="640080" y="3429000"/>
            <a:ext cx="9875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6263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Analytics &amp; Revenue Intelligence Platform  |  Muhammad Suhaib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C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 txBox="1"/>
          <p:nvPr>
            <p:ph idx="101" type="title" hasCustomPrompt="1"/>
          </p:nvPr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ZYROO Internship — Ride Analytics &amp; Revenue Intelligence Platform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1E2A3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1E2A38"/>
                </a:solidFill>
              </a:rPr>
              <a:t>Chart</a:t>
            </a:r>
            <a:endParaRPr lang="en-US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726680" y="1371600"/>
            <a:ext cx="38862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C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640080" y="192024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Business Intelligence Review</a:t>
            </a:r>
            <a:endParaRPr lang="en-US" sz="4000" dirty="0"/>
          </a:p>
        </p:txBody>
      </p:sp>
      <p:sp>
        <p:nvSpPr>
          <p:cNvPr id="3" name="Text 1"/>
          <p:cNvSpPr txBox="1"/>
          <p:nvPr>
            <p:ph idx="102" type="body" hasCustomPrompt="1"/>
          </p:nvPr>
        </p:nvSpPr>
        <p:spPr>
          <a:xfrm>
            <a:off x="640080" y="3429000"/>
            <a:ext cx="98755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Analytics &amp; Revenue Intelligence Platform — Week 6 Final Presentation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C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ride-hailing operator needs a clear, data-driven view of performance to answer six core questions: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rides are happening, and how many complete vs. cancel?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is generated, and by which payment method and location?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demand highest, and where?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service reliability issues concentrated?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503920" y="1463040"/>
            <a:ext cx="3108960" cy="4572000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2148840"/>
            <a:ext cx="2743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end-to-end analytics product — from raw data to a validated, interactive dashboard with business recommendations.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54406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550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07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Analyzed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54406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5550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6007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Covered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54406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5550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6007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Zones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cleaned_rides.csv — 120 rides, August 1–30, 2026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</a:t>
            </a:r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ID, Date, Pickup/Drop-off Location, Fare, Payment Method, Ride Status, Rating
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6092" y="37490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9047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7532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audit data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747772" y="3886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12364" y="37490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6744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6674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03804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validate KPIs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924044" y="3886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8636" y="37490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3016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43016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80076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revenue analysis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00316" y="3886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64908" y="37490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19288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1928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56348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 BI dashboard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76588" y="3886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41180" y="37490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9556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955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532620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&amp; recommendations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2763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70248" y="146304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70248" y="162763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278892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Rides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91856" y="146304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91856" y="162763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083296" y="278892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Rides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65,427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9204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70248" y="356616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70248" y="373075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681.53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489204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91856" y="3566160"/>
            <a:ext cx="3493008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91856" y="373075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083296" y="489204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Rating: 3.96 / 5   •   Cancellation Rate: 20%   •   Revenue per Completed Ride: Rs 681.53</a:t>
            </a:r>
            <a:endParaRPr lang="en-US" sz="1300" dirty="0"/>
          </a:p>
        </p:txBody>
      </p:sp>
      <p:sp>
        <p:nvSpPr>
          <p:cNvPr id="22" name="Text 0"/>
          <p:cNvSpPr txBox="1"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 Demand by Weekday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>
            <p:ph idx="101" type="chart" hasCustomPrompt="1"/>
          </p:nvPr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726680" y="1371600"/>
            <a:ext cx="3886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drive demand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and Sunday together account for 38% of all rides (46 of 120) — nearly double an average weekday like Thursday (9 rides).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pickup zones: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Johar Town (21), Model Town (19), Wapda Town (18)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Payment Method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>
            <p:ph idx="101" type="chart" hasCustomPrompt="1"/>
          </p:nvPr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726680" y="1371600"/>
            <a:ext cx="3886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not price, drives Card's lead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leads in total revenue (Rs 26,425) but its average fare (Rs 695) is barely above Cash (Rs 653) — the lead comes from being used in more rides (45), not higher-value trips.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zones: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Johar Town, Model Town, Wapda Town generate 48% of total revenue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Cancellations Track Demand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>
            <p:ph idx="101" type="chart" hasCustomPrompt="1"/>
          </p:nvPr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726680" y="1371600"/>
            <a:ext cx="3886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→ 39.1%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rises from 0% on the quietest day (Thursday) to 39.1% on the busiest (Saturday) — strong evidence of a weekend driver-supply shortfall, not a general reliability issue.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location: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Gulberg: 6.7% (best)  •  Lahore: 30.0% (worst)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 (Estimates)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65176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rate 20% → 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65,427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73,605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9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+Rs 8,178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fare +10% on weekends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65,427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71,970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9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+Rs 6,543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ride volume +15%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rides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rides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9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rides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(~Rs 4,089)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directional estimates holding other variables constant — each should be validated with a live pilot before being treated as a guaranteed outcome.</a:t>
            </a:r>
            <a:endParaRPr lang="en-US" sz="1250" dirty="0"/>
          </a:p>
        </p:txBody>
      </p:sp>
      <p:sp>
        <p:nvSpPr>
          <p:cNvPr id="5" name="Text 0"/>
          <p:cNvSpPr txBox="1"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4173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driver availability on Saturday and Sunday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6916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85432" y="14173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weekend cancellations as the top operational priority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51460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driver supply/service quality in Lahore and Model Town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5146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7889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251460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and replicate Gulberg's low-cancellation performance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driver supply in the top 3 revenue zones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6118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8862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~10% weekend peak-pricing surcharge, tested carefully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9834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70916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rating gap on Wallet-paid rides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47091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9834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470916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Driver ID and Customer ID to future data collection</a:t>
            </a:r>
            <a:endParaRPr lang="en-US" sz="1250" dirty="0"/>
          </a:p>
        </p:txBody>
      </p:sp>
      <p:sp>
        <p:nvSpPr>
          <p:cNvPr id="35" name="Text 0"/>
          <p:cNvSpPr txBox="1"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54864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ID — driver performance out of scope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ID — retention analysis out of scope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Ride Type or Distance fields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hourly timestamp (day-level only)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month of data — no trend over time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7FAFC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10312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schema: Driver ID, Customer ID, Ride Type, timestamp, distance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Driver Performance &amp; Customer Retention pages once available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multi-month data for real trend analysis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peak-pricing scenario as a controlled A/B pilot</a:t>
            </a:r>
            <a:endParaRPr lang="en-US" sz="1350" dirty="0"/>
          </a:p>
        </p:txBody>
      </p:sp>
      <p:sp>
        <p:nvSpPr>
          <p:cNvPr id="9" name="Text 0"/>
          <p:cNvSpPr txBox="1"/>
          <p:nvPr>
            <p:ph idx="101" type="body" hasCustomPrompt="1"/>
          </p:nvPr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7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ZYROO Data Analytics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2026-10-05T18:31:50Z</dcterms:created>
  <dcterms:modified xsi:type="dcterms:W3CDTF">2026-10-05T18:31:50Z</dcterms:modified>
</cp:coreProperties>
</file>